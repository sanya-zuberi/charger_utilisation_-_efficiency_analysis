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EB5639-29F8-4669-BF20-CD82A3997EAC}">
  <a:tblStyle styleId="{54EB5639-29F8-4669-BF20-CD82A3997E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22" Type="http://schemas.openxmlformats.org/officeDocument/2006/relationships/font" Target="fonts/MavenPro-regular.fntdata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778bd176f9fa586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778bd176f9fa586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778bd176f9fa586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778bd176f9fa586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778bd176f9fa586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778bd176f9fa586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25c5201e13c404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25c5201e13c404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25c5201e13c404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25c5201e13c404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25c5201e13c404d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25c5201e13c404d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25c5201e13c404d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h25c5201e13c404d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778bd176f9fa586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778bd176f9fa586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778bd176f9fa5868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778bd176f9fa5868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778bd176f9fa586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778bd176f9fa586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Charger Utilisation &amp; Efficiency Analysis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Measuring usage, idle time, and bottlenecks to optimise infrastructure and reduce congestion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Approach and a Data Quality Catch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610725" y="1742400"/>
            <a:ext cx="3529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</a:rPr>
              <a:t>How utilisation was measured</a:t>
            </a:r>
            <a:endParaRPr b="1" sz="1200">
              <a:solidFill>
                <a:schemeClr val="accent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0000"/>
                </a:solidFill>
              </a:rPr>
              <a:t>Utilisation = time a charger is in use / time it was available.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0000"/>
                </a:solidFill>
              </a:rPr>
              <a:t>Available time runs from 1 January of the station’s activation year to the end of 2024. The </a:t>
            </a:r>
            <a:r>
              <a:rPr lang="en-GB" sz="1200">
                <a:solidFill>
                  <a:srgbClr val="000000"/>
                </a:solidFill>
              </a:rPr>
              <a:t>installation_date field was not used as it conflicts with session activity.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0000"/>
                </a:solidFill>
              </a:rPr>
              <a:t>Overlapping sessions on a charger were merged into continuous busy periods, so no time is counted twice.</a:t>
            </a:r>
            <a:endParaRPr sz="1200">
              <a:solidFill>
                <a:srgbClr val="000000"/>
              </a:solidFill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0000"/>
                </a:solidFill>
              </a:rPr>
              <a:t>33 stations, 199 chargers (95 * 50kW, 69 * 150kW, 35 * 300kW), 294,024 sessions.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4419525" y="174240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8.3%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Of sessions start before an earlier session on the same charger has finished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86" name="Google Shape;286;p14"/>
          <p:cNvSpPr txBox="1"/>
          <p:nvPr>
            <p:ph idx="1" type="body"/>
          </p:nvPr>
        </p:nvSpPr>
        <p:spPr>
          <a:xfrm>
            <a:off x="6868125" y="174240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3,808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Sessions starts at the exact same moment as another on the same charger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6868125" y="311235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99.8%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Of overlapping sessions had another charger free at the same station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88" name="Google Shape;288;p14"/>
          <p:cNvSpPr txBox="1"/>
          <p:nvPr>
            <p:ph idx="1" type="body"/>
          </p:nvPr>
        </p:nvSpPr>
        <p:spPr>
          <a:xfrm>
            <a:off x="4419525" y="3112350"/>
            <a:ext cx="21696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5.2%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Overstatement of busy time if session durations were simply added up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1303800" y="598575"/>
            <a:ext cx="7030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Chargers Sit Idle 95% of the Time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613088" y="1563750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5.4%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Network utilisation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4705438" y="1563750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6.1 h 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Median wait between two uses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2659263" y="1563750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22.7 of 24 h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Average idle time per </a:t>
            </a:r>
            <a:r>
              <a:rPr lang="en-GB" sz="1200">
                <a:solidFill>
                  <a:srgbClr val="000000"/>
                </a:solidFill>
              </a:rPr>
              <a:t>charger</a:t>
            </a:r>
            <a:r>
              <a:rPr lang="en-GB" sz="1200">
                <a:solidFill>
                  <a:srgbClr val="000000"/>
                </a:solidFill>
              </a:rPr>
              <a:t> per day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97" name="Google Shape;297;p15"/>
          <p:cNvSpPr txBox="1"/>
          <p:nvPr>
            <p:ph idx="1" type="body"/>
          </p:nvPr>
        </p:nvSpPr>
        <p:spPr>
          <a:xfrm>
            <a:off x="6751613" y="1563750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8.2 days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Longest single idle  spell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298" name="Google Shape;2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13" y="2677175"/>
            <a:ext cx="75723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Station Size and Charger Type Drive Utilisation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04" name="Google Shape;304;p16"/>
          <p:cNvSpPr txBox="1"/>
          <p:nvPr>
            <p:ph idx="1" type="body"/>
          </p:nvPr>
        </p:nvSpPr>
        <p:spPr>
          <a:xfrm>
            <a:off x="1303800" y="3764925"/>
            <a:ext cx="70305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Every station gets about 13.9 session a day whatever its size, so utilisation falls from 8.5% (4 chargers) to 4.2% (8 chargers).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50kW chargers average 7.4% against 3.2% for 300kW: all types get the same sessions per day, but slower chargers are occupied longer per session.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Station size and charger type together explain 99.7% of the differences between chargers.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305" name="Google Shape;3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050" y="1640625"/>
            <a:ext cx="6860009" cy="18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When Chargers Are Used: Network Heatmap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11" name="Google Shape;311;p17"/>
          <p:cNvSpPr txBox="1"/>
          <p:nvPr>
            <p:ph idx="1" type="body"/>
          </p:nvPr>
        </p:nvSpPr>
        <p:spPr>
          <a:xfrm>
            <a:off x="1303800" y="4062775"/>
            <a:ext cx="70305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Use is concentrated between </a:t>
            </a:r>
            <a:r>
              <a:rPr lang="en-GB" sz="1100">
                <a:solidFill>
                  <a:srgbClr val="000000"/>
                </a:solidFill>
              </a:rPr>
              <a:t>about 09</a:t>
            </a:r>
            <a:r>
              <a:rPr lang="en-GB" sz="1100">
                <a:solidFill>
                  <a:srgbClr val="000000"/>
                </a:solidFill>
              </a:rPr>
              <a:t>:00 and 15:00; the busiest hour is Monday at 11:00 (11.5%).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Weekday midday averages 11.2% utilisation, weekend midday 8.4%, and overnight 1.2%.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Even at the busiest hour, chargers are idle close to 90% of the time.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312" name="Google Shape;3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350" y="1550650"/>
            <a:ext cx="6405294" cy="22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When Chargers Are Used: Station Heatmap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18" name="Google Shape;318;p18"/>
          <p:cNvSpPr txBox="1"/>
          <p:nvPr>
            <p:ph idx="1" type="body"/>
          </p:nvPr>
        </p:nvSpPr>
        <p:spPr>
          <a:xfrm>
            <a:off x="5146575" y="1597875"/>
            <a:ext cx="3187800" cy="32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Every station has the same daily shape: a midday plateaus and a quiet night.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brightest rows are mostly the 4-charger stations, fading towards the 8-charger stations at the bottom.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STN_030 (London, 4-chargers) is the busiest: weekday midday cells reach 20-28%, with a 10:00-14:59 average of about 21%.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Heatmaps for all 199 chargers, and for any single station, are saved with the notebook outputs.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319" name="Google Shape;3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550" y="1515400"/>
            <a:ext cx="4178037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>
            <p:ph type="title"/>
          </p:nvPr>
        </p:nvSpPr>
        <p:spPr>
          <a:xfrm>
            <a:off x="1303800" y="598575"/>
            <a:ext cx="7030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Peak Load Is a Small Share of Installed Power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25" name="Google Shape;325;p19"/>
          <p:cNvSpPr txBox="1"/>
          <p:nvPr>
            <p:ph idx="1" type="body"/>
          </p:nvPr>
        </p:nvSpPr>
        <p:spPr>
          <a:xfrm>
            <a:off x="613075" y="37323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882kW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Average load in 2024 (3.4% of 25,600kW installed)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26" name="Google Shape;326;p19"/>
          <p:cNvSpPr txBox="1"/>
          <p:nvPr>
            <p:ph idx="1" type="body"/>
          </p:nvPr>
        </p:nvSpPr>
        <p:spPr>
          <a:xfrm>
            <a:off x="4705425" y="37323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2,796kW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Highest single hour of 2024 (10.9% of installed)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27" name="Google Shape;327;p19"/>
          <p:cNvSpPr txBox="1"/>
          <p:nvPr>
            <p:ph idx="1" type="body"/>
          </p:nvPr>
        </p:nvSpPr>
        <p:spPr>
          <a:xfrm>
            <a:off x="2659250" y="37323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1,882kW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Weekday peaks at 13:00 (7.4% of installed)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28" name="Google Shape;328;p19"/>
          <p:cNvSpPr txBox="1"/>
          <p:nvPr>
            <p:ph idx="1" type="body"/>
          </p:nvPr>
        </p:nvSpPr>
        <p:spPr>
          <a:xfrm>
            <a:off x="6751600" y="37323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40.7%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Of daily energy delivered 10:00-14:59 vs 23.6% in the 16:00-20:59 peak-price window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329" name="Google Shape;3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1420350"/>
            <a:ext cx="741045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Bottlenecks: Only the Smallest Stations Get Close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35" name="Google Shape;335;p20"/>
          <p:cNvSpPr txBox="1"/>
          <p:nvPr>
            <p:ph idx="1" type="body"/>
          </p:nvPr>
        </p:nvSpPr>
        <p:spPr>
          <a:xfrm>
            <a:off x="800875" y="3680300"/>
            <a:ext cx="7533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Only 14 of 33 stations ever have every charger busy at once; the highest share of time is 0.061% (about 5 hours a year).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The nine most congested stations are exactly the nine 4-charger stations.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STN_030 and STN_022 (both London) are at least 75% busy for about 1.1% of the time.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413" y="1503675"/>
            <a:ext cx="4829175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"/>
          <p:cNvSpPr txBox="1"/>
          <p:nvPr>
            <p:ph type="title"/>
          </p:nvPr>
        </p:nvSpPr>
        <p:spPr>
          <a:xfrm>
            <a:off x="1303788" y="598575"/>
            <a:ext cx="70305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Ranking: Real for Groups, Noise for Individual Chargers</a:t>
            </a:r>
            <a:endParaRPr sz="2000">
              <a:solidFill>
                <a:schemeClr val="accent1"/>
              </a:solidFill>
            </a:endParaRPr>
          </a:p>
        </p:txBody>
      </p:sp>
      <p:graphicFrame>
        <p:nvGraphicFramePr>
          <p:cNvPr id="342" name="Google Shape;342;p21"/>
          <p:cNvGraphicFramePr/>
          <p:nvPr/>
        </p:nvGraphicFramePr>
        <p:xfrm>
          <a:off x="1303819" y="1439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{54EB5639-29F8-4669-BF20-CD82A3997EAC}</a:tableStyleId>
              </a:tblPr>
              <a:tblGrid>
                <a:gridCol w="2228225"/>
                <a:gridCol w="2401125"/>
                <a:gridCol w="240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Ranked by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Highest group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Lowest group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Utilisation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50kW at 4-charger stations: 11.0%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300kW at 8-charger stations: 2.3%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Revenue per charger per day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300kW at 4-charger stations: £153 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50kW at 8-charger stations: </a:t>
                      </a:r>
                      <a:r>
                        <a:rPr lang="en-GB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£34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21"/>
          <p:cNvSpPr txBox="1"/>
          <p:nvPr>
            <p:ph idx="1" type="body"/>
          </p:nvPr>
        </p:nvSpPr>
        <p:spPr>
          <a:xfrm>
            <a:off x="1303800" y="3250700"/>
            <a:ext cx="2130600" cy="13554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99.7%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Of utilisation differences explained by charger type and station size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44" name="Google Shape;344;p21"/>
          <p:cNvSpPr txBox="1"/>
          <p:nvPr>
            <p:ph idx="1" type="body"/>
          </p:nvPr>
        </p:nvSpPr>
        <p:spPr>
          <a:xfrm>
            <a:off x="6203750" y="3250700"/>
            <a:ext cx="2130600" cy="13554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10.9-11.5%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The top chargers (all 50kW at 4-charger stations) earn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£67-73 a day, less that the bottom 10 (£172-80)</a:t>
            </a:r>
            <a:endParaRPr b="1"/>
          </a:p>
        </p:txBody>
      </p:sp>
      <p:sp>
        <p:nvSpPr>
          <p:cNvPr id="345" name="Google Shape;345;p21"/>
          <p:cNvSpPr txBox="1"/>
          <p:nvPr>
            <p:ph idx="1" type="body"/>
          </p:nvPr>
        </p:nvSpPr>
        <p:spPr>
          <a:xfrm>
            <a:off x="3753775" y="3250700"/>
            <a:ext cx="2130600" cy="13554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-0.09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Correlation of rankings between odd and even months, once peers of the same type and size are compared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>
            <p:ph type="title"/>
          </p:nvPr>
        </p:nvSpPr>
        <p:spPr>
          <a:xfrm>
            <a:off x="1303800" y="598575"/>
            <a:ext cx="70305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Capacity Installed vs Needed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51" name="Google Shape;351;p22"/>
          <p:cNvSpPr txBox="1"/>
          <p:nvPr>
            <p:ph idx="1" type="body"/>
          </p:nvPr>
        </p:nvSpPr>
        <p:spPr>
          <a:xfrm>
            <a:off x="1056750" y="3791122"/>
            <a:ext cx="70305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318">
                <a:solidFill>
                  <a:srgbClr val="000000"/>
                </a:solidFill>
              </a:rPr>
              <a:t>Almost every station needs just 3 chargers at the 99.9% standard; only STN_009 and STN_023 (Scotland) need 4.</a:t>
            </a:r>
            <a:endParaRPr sz="1318">
              <a:solidFill>
                <a:srgbClr val="000000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318">
                <a:solidFill>
                  <a:srgbClr val="000000"/>
                </a:solidFill>
              </a:rPr>
              <a:t>The surplus sits mainly in the 11 8-charger stations.</a:t>
            </a:r>
            <a:endParaRPr sz="1318">
              <a:solidFill>
                <a:srgbClr val="000000"/>
              </a:solidFill>
            </a:endParaRPr>
          </a:p>
        </p:txBody>
      </p:sp>
      <p:sp>
        <p:nvSpPr>
          <p:cNvPr id="352" name="Google Shape;352;p22"/>
          <p:cNvSpPr txBox="1"/>
          <p:nvPr>
            <p:ph idx="1" type="body"/>
          </p:nvPr>
        </p:nvSpPr>
        <p:spPr>
          <a:xfrm>
            <a:off x="5035650" y="234622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70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Needed for 99% of the time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53" name="Google Shape;353;p22"/>
          <p:cNvSpPr txBox="1"/>
          <p:nvPr>
            <p:ph idx="1" type="body"/>
          </p:nvPr>
        </p:nvSpPr>
        <p:spPr>
          <a:xfrm>
            <a:off x="6947700" y="234622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127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Needed for 99.9% of the time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54" name="Google Shape;354;p22"/>
          <p:cNvSpPr txBox="1"/>
          <p:nvPr>
            <p:ph idx="1" type="body"/>
          </p:nvPr>
        </p:nvSpPr>
        <p:spPr>
          <a:xfrm>
            <a:off x="5035650" y="11268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199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Chargers installed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355" name="Google Shape;355;p22"/>
          <p:cNvSpPr txBox="1"/>
          <p:nvPr>
            <p:ph idx="1" type="body"/>
          </p:nvPr>
        </p:nvSpPr>
        <p:spPr>
          <a:xfrm>
            <a:off x="6947700" y="1126875"/>
            <a:ext cx="1779300" cy="10080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</a:rPr>
              <a:t>101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Needed to cover demand 99.9% of the time</a:t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356" name="Google Shape;3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50" y="1561125"/>
            <a:ext cx="4571750" cy="16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Recommendations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606900" y="1205100"/>
            <a:ext cx="7930200" cy="3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0"/>
              <a:buAutoNum type="arabicPeriod"/>
            </a:pPr>
            <a:r>
              <a:rPr b="1" lang="en-GB" sz="1110">
                <a:solidFill>
                  <a:schemeClr val="lt1"/>
                </a:solidFill>
              </a:rPr>
              <a:t>Do not add chargers now</a:t>
            </a:r>
            <a:endParaRPr b="1" sz="11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110">
                <a:solidFill>
                  <a:schemeClr val="lt1"/>
                </a:solidFill>
              </a:rPr>
              <a:t>Utilisation is 5.4%, no station is fully occupied for more than 0.061% of the time, and peak load is 7.4% of installed power.</a:t>
            </a:r>
            <a:endParaRPr sz="1110">
              <a:solidFill>
                <a:schemeClr val="lt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10"/>
              <a:buAutoNum type="arabicPeriod"/>
            </a:pPr>
            <a:r>
              <a:rPr b="1" lang="en-GB" sz="1110">
                <a:solidFill>
                  <a:schemeClr val="lt1"/>
                </a:solidFill>
              </a:rPr>
              <a:t>Watch the nine 4-charger stations first</a:t>
            </a:r>
            <a:endParaRPr b="1" sz="11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110">
                <a:solidFill>
                  <a:schemeClr val="lt1"/>
                </a:solidFill>
              </a:rPr>
              <a:t>They are the only ones near congestion and the first candidates for expansion if demand per station grows.</a:t>
            </a:r>
            <a:endParaRPr sz="1110">
              <a:solidFill>
                <a:schemeClr val="lt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10"/>
              <a:buAutoNum type="arabicPeriod"/>
            </a:pPr>
            <a:r>
              <a:rPr b="1" lang="en-GB" sz="1110">
                <a:solidFill>
                  <a:schemeClr val="lt1"/>
                </a:solidFill>
              </a:rPr>
              <a:t>Right-size the 8-charger stations</a:t>
            </a:r>
            <a:endParaRPr b="1" sz="11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110">
                <a:solidFill>
                  <a:schemeClr val="lt1"/>
                </a:solidFill>
              </a:rPr>
              <a:t>Most need about 3 chargers at the 99.9% standard. Plan 4-5 per new site. The surplus (72-129 chargers) is indicative only.</a:t>
            </a:r>
            <a:endParaRPr sz="1110">
              <a:solidFill>
                <a:schemeClr val="lt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10"/>
              <a:buAutoNum type="arabicPeriod"/>
            </a:pPr>
            <a:r>
              <a:rPr b="1" lang="en-GB" sz="1110">
                <a:solidFill>
                  <a:schemeClr val="lt1"/>
                </a:solidFill>
              </a:rPr>
              <a:t>Review </a:t>
            </a:r>
            <a:r>
              <a:rPr b="1" lang="en-GB" sz="1110">
                <a:solidFill>
                  <a:schemeClr val="lt1"/>
                </a:solidFill>
              </a:rPr>
              <a:t>300 kW</a:t>
            </a:r>
            <a:r>
              <a:rPr b="1" lang="en-GB" sz="1110">
                <a:solidFill>
                  <a:schemeClr val="lt1"/>
                </a:solidFill>
              </a:rPr>
              <a:t> units before buying more</a:t>
            </a:r>
            <a:endParaRPr b="1" sz="11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110">
                <a:solidFill>
                  <a:schemeClr val="lt1"/>
                </a:solidFill>
              </a:rPr>
              <a:t>17.6% of chargers but 41% of installed power, delivering 33% of the energy. Capital-cost data is needed to decide.</a:t>
            </a:r>
            <a:endParaRPr sz="1110">
              <a:solidFill>
                <a:schemeClr val="lt1"/>
              </a:solidFill>
            </a:endParaRPr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10"/>
              <a:buAutoNum type="arabicPeriod" startAt="5"/>
            </a:pPr>
            <a:r>
              <a:rPr b="1" lang="en-GB" sz="1110">
                <a:solidFill>
                  <a:schemeClr val="lt1"/>
                </a:solidFill>
              </a:rPr>
              <a:t>Pilot peak-price changes and fix allocation</a:t>
            </a:r>
            <a:endParaRPr b="1" sz="111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-GB" sz="1110">
                <a:solidFill>
                  <a:schemeClr val="lt1"/>
                </a:solidFill>
              </a:rPr>
              <a:t>The peak-price window covers 23.6% of energy against 40.7% at the midday peak. In 99.8% of double-bookings a free charger was available.</a:t>
            </a:r>
            <a:endParaRPr sz="111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